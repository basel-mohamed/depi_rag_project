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79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E8303C8-8463-4389-9272-E7FFD8C447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32059F-BC10-42CD-AE5C-875C8A8963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B01591-4C33-41F6-B34B-DA483D62D6D2}"/>
              </a:ext>
            </a:extLst>
          </p:cNvPr>
          <p:cNvSpPr>
            <a:spLocks noGrp="1"/>
          </p:cNvSpPr>
          <p:nvPr/>
        </p:nvSpPr>
        <p:spPr>
          <a:xfrm>
            <a:off x="323850" y="0"/>
            <a:ext cx="76200" cy="6858000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92579F-0209-4177-BFF1-708D55075B42}"/>
              </a:ext>
            </a:extLst>
          </p:cNvPr>
          <p:cNvSpPr>
            <a:spLocks noGrp="1"/>
          </p:cNvSpPr>
          <p:nvPr/>
        </p:nvSpPr>
        <p:spPr>
          <a:xfrm>
            <a:off x="8477250" y="-762000"/>
            <a:ext cx="4095750" cy="4095750"/>
          </a:xfrm>
          <a:prstGeom prst="ellipse">
            <a:avLst/>
          </a:prstGeom>
          <a:solidFill>
            <a:srgbClr val="2F6FAB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B38002-F201-4FE8-8718-8CBF780C7DA2}"/>
              </a:ext>
            </a:extLst>
          </p:cNvPr>
          <p:cNvSpPr>
            <a:spLocks noGrp="1"/>
          </p:cNvSpPr>
          <p:nvPr/>
        </p:nvSpPr>
        <p:spPr>
          <a:xfrm>
            <a:off x="9429750" y="2381250"/>
            <a:ext cx="2190750" cy="2190750"/>
          </a:xfrm>
          <a:prstGeom prst="ellipse">
            <a:avLst/>
          </a:prstGeom>
          <a:solidFill>
            <a:srgbClr val="0B8A6A"/>
          </a:solidFill>
          <a:ln w="9525">
            <a:solidFill>
              <a:srgbClr val="0B8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B4C79-F1CF-4378-9C2B-D3DAB18F0B3D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1">
                <a:solidFill>
                  <a:srgbClr val="0B8A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8A6A"/>
                </a:solidFill>
                <a:latin typeface="Aptos"/>
                <a:ea typeface="Aptos"/>
                <a:cs typeface="Aptos"/>
              </a:rPr>
              <a:t>DEPI Graduation Project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21410F-8440-452E-B819-D2CABC18FB43}"/>
              </a:ext>
            </a:extLst>
          </p:cNvPr>
          <p:cNvSpPr>
            <a:spLocks noGrp="1"/>
          </p:cNvSpPr>
          <p:nvPr/>
        </p:nvSpPr>
        <p:spPr>
          <a:xfrm>
            <a:off x="685800" y="1190625"/>
            <a:ext cx="72390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Customer Support RAG-Powered Intelligent Chatbot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12FA6-3B83-455D-91A3-0DA67F7EC67B}"/>
              </a:ext>
            </a:extLst>
          </p:cNvPr>
          <p:cNvSpPr>
            <a:spLocks noGrp="1"/>
          </p:cNvSpPr>
          <p:nvPr/>
        </p:nvSpPr>
        <p:spPr>
          <a:xfrm>
            <a:off x="742950" y="2552700"/>
            <a:ext cx="6191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Production-ready support automation using document ingestion, hybrid vector search, grounded generation, feedback analytics, and monitoring.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65899B-04C3-4022-926D-23A4B02180F3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15049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97D8E-CFAD-4746-8917-8BFF47AC7FD2}"/>
              </a:ext>
            </a:extLst>
          </p:cNvPr>
          <p:cNvSpPr>
            <a:spLocks noGrp="1"/>
          </p:cNvSpPr>
          <p:nvPr/>
        </p:nvSpPr>
        <p:spPr>
          <a:xfrm>
            <a:off x="819150" y="376237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2378E7-33D6-4281-9126-C30127A9EA21}"/>
              </a:ext>
            </a:extLst>
          </p:cNvPr>
          <p:cNvSpPr>
            <a:spLocks noGrp="1"/>
          </p:cNvSpPr>
          <p:nvPr/>
        </p:nvSpPr>
        <p:spPr>
          <a:xfrm>
            <a:off x="2400300" y="3695700"/>
            <a:ext cx="15049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10C2A-4852-4BC9-9A1C-78592D26B692}"/>
              </a:ext>
            </a:extLst>
          </p:cNvPr>
          <p:cNvSpPr>
            <a:spLocks noGrp="1"/>
          </p:cNvSpPr>
          <p:nvPr/>
        </p:nvSpPr>
        <p:spPr>
          <a:xfrm>
            <a:off x="2476500" y="376237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Qdrant hybrid search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298118-9B8D-4B42-87FC-481F73C51052}"/>
              </a:ext>
            </a:extLst>
          </p:cNvPr>
          <p:cNvSpPr>
            <a:spLocks noGrp="1"/>
          </p:cNvSpPr>
          <p:nvPr/>
        </p:nvSpPr>
        <p:spPr>
          <a:xfrm>
            <a:off x="4057650" y="3695700"/>
            <a:ext cx="15049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EAB408-1BCD-4F02-90C8-6734A4D3D1A8}"/>
              </a:ext>
            </a:extLst>
          </p:cNvPr>
          <p:cNvSpPr>
            <a:spLocks noGrp="1"/>
          </p:cNvSpPr>
          <p:nvPr/>
        </p:nvSpPr>
        <p:spPr>
          <a:xfrm>
            <a:off x="4133850" y="376237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MLflow + Grafana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33F30A-4194-4B26-B4B8-D580FAD67B9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Customer Support RAG Chatbot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583821-CE50-44C0-A9F9-B62085FA523E}"/>
              </a:ext>
            </a:extLst>
          </p:cNvPr>
          <p:cNvSpPr>
            <a:spLocks noGrp="1"/>
          </p:cNvSpPr>
          <p:nvPr/>
        </p:nvSpPr>
        <p:spPr>
          <a:xfrm>
            <a:off x="11315700" y="64008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700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49B77B2-22A1-4CD8-8E14-B8158F9FA76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4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Support teams need trustworthy automation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2A1582-8533-4DF3-8B31-07851250BF7C}"/>
              </a:ext>
            </a:extLst>
          </p:cNvPr>
          <p:cNvSpPr>
            <a:spLocks noGrp="1"/>
          </p:cNvSpPr>
          <p:nvPr/>
        </p:nvSpPr>
        <p:spPr>
          <a:xfrm>
            <a:off x="628650" y="904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The project targets repetitive knowledge lookup without sacrificing source traceability.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A31CDC-0414-4689-8A46-EC1829611EE7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619250" cy="47625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787AFE-EDB5-47CF-8307-47F951A5EA34}"/>
              </a:ext>
            </a:extLst>
          </p:cNvPr>
          <p:cNvSpPr>
            <a:spLocks noGrp="1"/>
          </p:cNvSpPr>
          <p:nvPr/>
        </p:nvSpPr>
        <p:spPr>
          <a:xfrm>
            <a:off x="2286000" y="1276350"/>
            <a:ext cx="552450" cy="4762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AACDD6-3CC6-4F38-BCF6-AD13202EC675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314325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3CC5E0-B1D3-4CCB-9340-C871B99156AF}"/>
              </a:ext>
            </a:extLst>
          </p:cNvPr>
          <p:cNvSpPr>
            <a:spLocks noGrp="1"/>
          </p:cNvSpPr>
          <p:nvPr/>
        </p:nvSpPr>
        <p:spPr>
          <a:xfrm>
            <a:off x="4524375" y="1771650"/>
            <a:ext cx="314325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DA3FF3-0EA7-404A-8E95-6EBF70376E1F}"/>
              </a:ext>
            </a:extLst>
          </p:cNvPr>
          <p:cNvSpPr>
            <a:spLocks noGrp="1"/>
          </p:cNvSpPr>
          <p:nvPr/>
        </p:nvSpPr>
        <p:spPr>
          <a:xfrm>
            <a:off x="8382000" y="1771650"/>
            <a:ext cx="314325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507BC8-7493-4735-9036-970E86E55FAD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AB"/>
                </a:solidFill>
                <a:latin typeface="Aptos"/>
                <a:ea typeface="Aptos"/>
                <a:cs typeface="Aptos"/>
              </a:rPr>
              <a:t>Pain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D6905B-CA61-470E-87AF-45CCE2614D0B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476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Agents manually search policies, FAQs, manuals, and historical tickets while users wait.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2154B-5EFD-4871-8E24-AD046A462A26}"/>
              </a:ext>
            </a:extLst>
          </p:cNvPr>
          <p:cNvSpPr>
            <a:spLocks noGrp="1"/>
          </p:cNvSpPr>
          <p:nvPr/>
        </p:nvSpPr>
        <p:spPr>
          <a:xfrm>
            <a:off x="4733925" y="20002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0B8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8A6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8E0198-2B3C-4576-B700-34618FC58786}"/>
              </a:ext>
            </a:extLst>
          </p:cNvPr>
          <p:cNvSpPr>
            <a:spLocks noGrp="1"/>
          </p:cNvSpPr>
          <p:nvPr/>
        </p:nvSpPr>
        <p:spPr>
          <a:xfrm>
            <a:off x="4733925" y="2476500"/>
            <a:ext cx="2476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Standalone LLM answers may sound fluent but fail to cite exact policy limits, approvals, or procedures.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8FEB26-8C23-41E5-A0D1-FAE7A19D3845}"/>
              </a:ext>
            </a:extLst>
          </p:cNvPr>
          <p:cNvSpPr>
            <a:spLocks noGrp="1"/>
          </p:cNvSpPr>
          <p:nvPr/>
        </p:nvSpPr>
        <p:spPr>
          <a:xfrm>
            <a:off x="8591550" y="200025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C4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C400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E99AC7-880B-4EE0-9C85-E19295C486BE}"/>
              </a:ext>
            </a:extLst>
          </p:cNvPr>
          <p:cNvSpPr>
            <a:spLocks noGrp="1"/>
          </p:cNvSpPr>
          <p:nvPr/>
        </p:nvSpPr>
        <p:spPr>
          <a:xfrm>
            <a:off x="8591550" y="2476500"/>
            <a:ext cx="2476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RAG retrieves the right source chunks first, then generates an answer with citations and measurable quality.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AE45E4-1BBC-4E10-993A-78C283DEB9B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Customer Support RAG Chatbot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1A4E0E-692D-4AF0-A3C3-D8C8FCD1E84F}"/>
              </a:ext>
            </a:extLst>
          </p:cNvPr>
          <p:cNvSpPr>
            <a:spLocks noGrp="1"/>
          </p:cNvSpPr>
          <p:nvPr/>
        </p:nvSpPr>
        <p:spPr>
          <a:xfrm>
            <a:off x="11315700" y="64008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7701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0F8E3D8-303A-4C7E-85C3-A0DBE8437DA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4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End-to-end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FBBB84-0BC5-4B13-B64B-199B720DB7AC}"/>
              </a:ext>
            </a:extLst>
          </p:cNvPr>
          <p:cNvSpPr>
            <a:spLocks noGrp="1"/>
          </p:cNvSpPr>
          <p:nvPr/>
        </p:nvSpPr>
        <p:spPr>
          <a:xfrm>
            <a:off x="628650" y="904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Ingestion, retrieval, generation, feedback, and monitoring are already represented in the repository.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FCC248-A7ED-4C45-89A7-A48625440577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619250" cy="47625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EDAB5E-0951-4D58-B1CB-716E3B243E6A}"/>
              </a:ext>
            </a:extLst>
          </p:cNvPr>
          <p:cNvSpPr>
            <a:spLocks noGrp="1"/>
          </p:cNvSpPr>
          <p:nvPr/>
        </p:nvSpPr>
        <p:spPr>
          <a:xfrm>
            <a:off x="2286000" y="1276350"/>
            <a:ext cx="552450" cy="4762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400BDB-AFF4-4E4D-8B70-340E7268FF07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257300" cy="1257300"/>
          </a:xfrm>
          <a:prstGeom prst="roundRect">
            <a:avLst>
              <a:gd name="adj" fmla="val 6061"/>
            </a:avLst>
          </a:prstGeom>
          <a:solidFill>
            <a:srgbClr val="2F6FAB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F13C0A-8A67-4492-BA5E-723D24165310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35FBE-5629-4219-BCF8-55D30A1DD96D}"/>
              </a:ext>
            </a:extLst>
          </p:cNvPr>
          <p:cNvSpPr>
            <a:spLocks noGrp="1"/>
          </p:cNvSpPr>
          <p:nvPr/>
        </p:nvSpPr>
        <p:spPr>
          <a:xfrm>
            <a:off x="2019300" y="2800350"/>
            <a:ext cx="762000" cy="76200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E54663-0124-4F27-8F8F-621CC7096D57}"/>
              </a:ext>
            </a:extLst>
          </p:cNvPr>
          <p:cNvSpPr>
            <a:spLocks noGrp="1"/>
          </p:cNvSpPr>
          <p:nvPr/>
        </p:nvSpPr>
        <p:spPr>
          <a:xfrm>
            <a:off x="2571750" y="2266950"/>
            <a:ext cx="1257300" cy="1257300"/>
          </a:xfrm>
          <a:prstGeom prst="roundRect">
            <a:avLst>
              <a:gd name="adj" fmla="val 6061"/>
            </a:avLst>
          </a:prstGeom>
          <a:solidFill>
            <a:srgbClr val="0B8A6A"/>
          </a:solidFill>
          <a:ln w="9525">
            <a:solidFill>
              <a:srgbClr val="0B8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5E7FBC-6957-4EE5-A18B-5B9758A001D7}"/>
              </a:ext>
            </a:extLst>
          </p:cNvPr>
          <p:cNvSpPr>
            <a:spLocks noGrp="1"/>
          </p:cNvSpPr>
          <p:nvPr/>
        </p:nvSpPr>
        <p:spPr>
          <a:xfrm>
            <a:off x="2667000" y="27241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Preprocess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4636BB-8D99-4212-BB24-1F15D0EBB2CE}"/>
              </a:ext>
            </a:extLst>
          </p:cNvPr>
          <p:cNvSpPr>
            <a:spLocks noGrp="1"/>
          </p:cNvSpPr>
          <p:nvPr/>
        </p:nvSpPr>
        <p:spPr>
          <a:xfrm>
            <a:off x="3905250" y="2800350"/>
            <a:ext cx="762000" cy="76200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EC42E7-163A-428E-A46C-E645E60287EE}"/>
              </a:ext>
            </a:extLst>
          </p:cNvPr>
          <p:cNvSpPr>
            <a:spLocks noGrp="1"/>
          </p:cNvSpPr>
          <p:nvPr/>
        </p:nvSpPr>
        <p:spPr>
          <a:xfrm>
            <a:off x="4457700" y="2266950"/>
            <a:ext cx="1257300" cy="1257300"/>
          </a:xfrm>
          <a:prstGeom prst="roundRect">
            <a:avLst>
              <a:gd name="adj" fmla="val 6061"/>
            </a:avLst>
          </a:prstGeom>
          <a:solidFill>
            <a:srgbClr val="2F6FAB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68D566-1DBF-4AE5-A015-8E30AF47C774}"/>
              </a:ext>
            </a:extLst>
          </p:cNvPr>
          <p:cNvSpPr>
            <a:spLocks noGrp="1"/>
          </p:cNvSpPr>
          <p:nvPr/>
        </p:nvSpPr>
        <p:spPr>
          <a:xfrm>
            <a:off x="4552950" y="27241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Embed + Index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B776BA-9E35-47BE-B1FA-F565FD6AB21A}"/>
              </a:ext>
            </a:extLst>
          </p:cNvPr>
          <p:cNvSpPr>
            <a:spLocks noGrp="1"/>
          </p:cNvSpPr>
          <p:nvPr/>
        </p:nvSpPr>
        <p:spPr>
          <a:xfrm>
            <a:off x="5791200" y="2800350"/>
            <a:ext cx="762000" cy="76200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A8367F-EA07-46B6-94DD-8F48C8B41B65}"/>
              </a:ext>
            </a:extLst>
          </p:cNvPr>
          <p:cNvSpPr>
            <a:spLocks noGrp="1"/>
          </p:cNvSpPr>
          <p:nvPr/>
        </p:nvSpPr>
        <p:spPr>
          <a:xfrm>
            <a:off x="6343650" y="2266950"/>
            <a:ext cx="1257300" cy="1257300"/>
          </a:xfrm>
          <a:prstGeom prst="roundRect">
            <a:avLst>
              <a:gd name="adj" fmla="val 6061"/>
            </a:avLst>
          </a:prstGeom>
          <a:solidFill>
            <a:srgbClr val="0B8A6A"/>
          </a:solidFill>
          <a:ln w="9525">
            <a:solidFill>
              <a:srgbClr val="0B8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0575C1-0709-4BF9-A9C7-8AF23ACEA1A2}"/>
              </a:ext>
            </a:extLst>
          </p:cNvPr>
          <p:cNvSpPr>
            <a:spLocks noGrp="1"/>
          </p:cNvSpPr>
          <p:nvPr/>
        </p:nvSpPr>
        <p:spPr>
          <a:xfrm>
            <a:off x="6438900" y="27241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F2FDA-9AEB-4564-AFDB-E069AD9DD407}"/>
              </a:ext>
            </a:extLst>
          </p:cNvPr>
          <p:cNvSpPr>
            <a:spLocks noGrp="1"/>
          </p:cNvSpPr>
          <p:nvPr/>
        </p:nvSpPr>
        <p:spPr>
          <a:xfrm>
            <a:off x="7677150" y="2800350"/>
            <a:ext cx="762000" cy="76200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ACECD8-8CC8-4844-A45A-E6BB8944FE4F}"/>
              </a:ext>
            </a:extLst>
          </p:cNvPr>
          <p:cNvSpPr>
            <a:spLocks noGrp="1"/>
          </p:cNvSpPr>
          <p:nvPr/>
        </p:nvSpPr>
        <p:spPr>
          <a:xfrm>
            <a:off x="8229600" y="2266950"/>
            <a:ext cx="1257300" cy="1257300"/>
          </a:xfrm>
          <a:prstGeom prst="roundRect">
            <a:avLst>
              <a:gd name="adj" fmla="val 6061"/>
            </a:avLst>
          </a:prstGeom>
          <a:solidFill>
            <a:srgbClr val="2F6FAB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A694C5-4CD0-4A26-8237-2D9FF1AD6E21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000F85-FC34-4DA4-ABEC-465C12E894F2}"/>
              </a:ext>
            </a:extLst>
          </p:cNvPr>
          <p:cNvSpPr>
            <a:spLocks noGrp="1"/>
          </p:cNvSpPr>
          <p:nvPr/>
        </p:nvSpPr>
        <p:spPr>
          <a:xfrm>
            <a:off x="9563100" y="2800350"/>
            <a:ext cx="762000" cy="76200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29415B3-741C-4A76-8BED-AC072C2FCDE2}"/>
              </a:ext>
            </a:extLst>
          </p:cNvPr>
          <p:cNvSpPr>
            <a:spLocks noGrp="1"/>
          </p:cNvSpPr>
          <p:nvPr/>
        </p:nvSpPr>
        <p:spPr>
          <a:xfrm>
            <a:off x="10115550" y="2266950"/>
            <a:ext cx="1257300" cy="1257300"/>
          </a:xfrm>
          <a:prstGeom prst="roundRect">
            <a:avLst>
              <a:gd name="adj" fmla="val 6061"/>
            </a:avLst>
          </a:prstGeom>
          <a:solidFill>
            <a:srgbClr val="5F6368"/>
          </a:solidFill>
          <a:ln w="9525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415200-4B1E-459A-ADB9-535AFE7008F4}"/>
              </a:ext>
            </a:extLst>
          </p:cNvPr>
          <p:cNvSpPr>
            <a:spLocks noGrp="1"/>
          </p:cNvSpPr>
          <p:nvPr/>
        </p:nvSpPr>
        <p:spPr>
          <a:xfrm>
            <a:off x="10210800" y="27241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5E5DBC-694B-41A6-A500-5774343630A2}"/>
              </a:ext>
            </a:extLst>
          </p:cNvPr>
          <p:cNvSpPr>
            <a:spLocks noGrp="1"/>
          </p:cNvSpPr>
          <p:nvPr/>
        </p:nvSpPr>
        <p:spPr>
          <a:xfrm>
            <a:off x="666750" y="4057650"/>
            <a:ext cx="171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PDF / CSV / JSON / TXT / MD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51ED86-ACAF-49E9-854B-90348EE4B904}"/>
              </a:ext>
            </a:extLst>
          </p:cNvPr>
          <p:cNvSpPr>
            <a:spLocks noGrp="1"/>
          </p:cNvSpPr>
          <p:nvPr/>
        </p:nvSpPr>
        <p:spPr>
          <a:xfrm>
            <a:off x="2552700" y="4057650"/>
            <a:ext cx="171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Chunking, PII redaction, dedupe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8F4253-41E3-4A3E-B803-0AB79A07F1D3}"/>
              </a:ext>
            </a:extLst>
          </p:cNvPr>
          <p:cNvSpPr>
            <a:spLocks noGrp="1"/>
          </p:cNvSpPr>
          <p:nvPr/>
        </p:nvSpPr>
        <p:spPr>
          <a:xfrm>
            <a:off x="4438650" y="4057650"/>
            <a:ext cx="180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multilingual-e5 + BM25 in Qdrant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B83A7C-BEA2-45F0-AB2F-6B905E197AB2}"/>
              </a:ext>
            </a:extLst>
          </p:cNvPr>
          <p:cNvSpPr>
            <a:spLocks noGrp="1"/>
          </p:cNvSpPr>
          <p:nvPr/>
        </p:nvSpPr>
        <p:spPr>
          <a:xfrm>
            <a:off x="6324600" y="4057650"/>
            <a:ext cx="171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Dense, sparse, or hybrid RRF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44A33D-1397-4D71-A8A8-3336A77805E6}"/>
              </a:ext>
            </a:extLst>
          </p:cNvPr>
          <p:cNvSpPr>
            <a:spLocks noGrp="1"/>
          </p:cNvSpPr>
          <p:nvPr/>
        </p:nvSpPr>
        <p:spPr>
          <a:xfrm>
            <a:off x="8210550" y="4057650"/>
            <a:ext cx="171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Cohere or Azure OpenAI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0EB7CC-C372-4A5F-B85A-93F8BD5D281B}"/>
              </a:ext>
            </a:extLst>
          </p:cNvPr>
          <p:cNvSpPr>
            <a:spLocks noGrp="1"/>
          </p:cNvSpPr>
          <p:nvPr/>
        </p:nvSpPr>
        <p:spPr>
          <a:xfrm>
            <a:off x="10096500" y="4057650"/>
            <a:ext cx="171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Prometheus, Grafana, MLflow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14149B-D4E0-4D9C-B6C2-DE601121998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Customer Support RAG Chatbot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B6F4A0-1BD5-4EF8-A6E4-568083132EC2}"/>
              </a:ext>
            </a:extLst>
          </p:cNvPr>
          <p:cNvSpPr>
            <a:spLocks noGrp="1"/>
          </p:cNvSpPr>
          <p:nvPr/>
        </p:nvSpPr>
        <p:spPr>
          <a:xfrm>
            <a:off x="11315700" y="64008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065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CDAAE15-3D71-4573-B559-532DE25B502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4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Milestone 1: data and preprocessing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44BDE6-BF6E-4922-8D01-29231E87D742}"/>
              </a:ext>
            </a:extLst>
          </p:cNvPr>
          <p:cNvSpPr>
            <a:spLocks noGrp="1"/>
          </p:cNvSpPr>
          <p:nvPr/>
        </p:nvSpPr>
        <p:spPr>
          <a:xfrm>
            <a:off x="628650" y="904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The ingestion layer converts support knowledge into clean, traceable chunks.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888B23-D9C9-4AA3-A0FA-764F645C70FC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619250" cy="47625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E90FFC-5A72-4F35-818C-5F8CC6740C62}"/>
              </a:ext>
            </a:extLst>
          </p:cNvPr>
          <p:cNvSpPr>
            <a:spLocks noGrp="1"/>
          </p:cNvSpPr>
          <p:nvPr/>
        </p:nvSpPr>
        <p:spPr>
          <a:xfrm>
            <a:off x="2286000" y="1276350"/>
            <a:ext cx="552450" cy="4762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2E751C-66AE-42AC-A171-525B2A7CDFF8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2762250" cy="1285875"/>
          </a:xfrm>
          <a:prstGeom prst="roundRect">
            <a:avLst>
              <a:gd name="adj" fmla="val 5926"/>
            </a:avLst>
          </a:prstGeom>
          <a:solidFill>
            <a:srgbClr val="2F6FAB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BF5528-1768-4F75-B422-22C3533623FA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1143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BBFDF9-5561-4531-86CA-DE026123E35D}"/>
              </a:ext>
            </a:extLst>
          </p:cNvPr>
          <p:cNvSpPr>
            <a:spLocks noGrp="1"/>
          </p:cNvSpPr>
          <p:nvPr/>
        </p:nvSpPr>
        <p:spPr>
          <a:xfrm>
            <a:off x="952500" y="2428875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corpus chunks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5C76F2-D28A-4044-860D-2801DACA7B27}"/>
              </a:ext>
            </a:extLst>
          </p:cNvPr>
          <p:cNvSpPr>
            <a:spLocks noGrp="1"/>
          </p:cNvSpPr>
          <p:nvPr/>
        </p:nvSpPr>
        <p:spPr>
          <a:xfrm>
            <a:off x="3905250" y="1676400"/>
            <a:ext cx="2762250" cy="1285875"/>
          </a:xfrm>
          <a:prstGeom prst="roundRect">
            <a:avLst>
              <a:gd name="adj" fmla="val 5926"/>
            </a:avLst>
          </a:prstGeom>
          <a:solidFill>
            <a:srgbClr val="0B8A6A"/>
          </a:solidFill>
          <a:ln w="9525">
            <a:solidFill>
              <a:srgbClr val="0B8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E8D94E-89B9-44D5-AC03-A2D7D08AB3F0}"/>
              </a:ext>
            </a:extLst>
          </p:cNvPr>
          <p:cNvSpPr>
            <a:spLocks noGrp="1"/>
          </p:cNvSpPr>
          <p:nvPr/>
        </p:nvSpPr>
        <p:spPr>
          <a:xfrm>
            <a:off x="4095750" y="1885950"/>
            <a:ext cx="1143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25C0E4-70E3-439B-A669-A7E0498FC292}"/>
              </a:ext>
            </a:extLst>
          </p:cNvPr>
          <p:cNvSpPr>
            <a:spLocks noGrp="1"/>
          </p:cNvSpPr>
          <p:nvPr/>
        </p:nvSpPr>
        <p:spPr>
          <a:xfrm>
            <a:off x="4095750" y="2428875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file(s)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DEFF28-3066-4031-9A6F-AAEF3D31CF46}"/>
              </a:ext>
            </a:extLst>
          </p:cNvPr>
          <p:cNvSpPr>
            <a:spLocks noGrp="1"/>
          </p:cNvSpPr>
          <p:nvPr/>
        </p:nvSpPr>
        <p:spPr>
          <a:xfrm>
            <a:off x="7048500" y="1676400"/>
            <a:ext cx="39052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2EA266-EF1F-44D4-A87D-254704260DF3}"/>
              </a:ext>
            </a:extLst>
          </p:cNvPr>
          <p:cNvSpPr>
            <a:spLocks noGrp="1"/>
          </p:cNvSpPr>
          <p:nvPr/>
        </p:nvSpPr>
        <p:spPr>
          <a:xfrm>
            <a:off x="7286625" y="18669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Supported formats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352093-CE5D-4BAE-A7BB-6C314C5BC0E5}"/>
              </a:ext>
            </a:extLst>
          </p:cNvPr>
          <p:cNvSpPr>
            <a:spLocks noGrp="1"/>
          </p:cNvSpPr>
          <p:nvPr/>
        </p:nvSpPr>
        <p:spPr>
          <a:xfrm>
            <a:off x="7286625" y="23431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AB"/>
                </a:solidFill>
                <a:latin typeface="Aptos"/>
                <a:ea typeface="Aptos"/>
                <a:cs typeface="Aptos"/>
              </a:rPr>
              <a:t>PDF, CSV, JSON, TXT, Markdown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92CCC5-EA19-4541-950A-B0E9DD491BED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0B8A6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8A6A"/>
                </a:solidFill>
                <a:latin typeface="Aptos"/>
                <a:ea typeface="Aptos"/>
                <a:cs typeface="Aptos"/>
              </a:rPr>
              <a:t>Pipeline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FB44ED-F07F-4C57-BC52-24CC72BB4B94}"/>
              </a:ext>
            </a:extLst>
          </p:cNvPr>
          <p:cNvSpPr>
            <a:spLocks noGrp="1"/>
          </p:cNvSpPr>
          <p:nvPr/>
        </p:nvSpPr>
        <p:spPr>
          <a:xfrm>
            <a:off x="819150" y="4019550"/>
            <a:ext cx="9525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DocumentProcessor loads pages, splits with RecursiveCharacterTextSplitter, redacts common PII, drops empty text, and deduplicates exact normalized chunks.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A66FAE-5636-4544-8C3F-4D27CAA12B5A}"/>
              </a:ext>
            </a:extLst>
          </p:cNvPr>
          <p:cNvSpPr>
            <a:spLocks noGrp="1"/>
          </p:cNvSpPr>
          <p:nvPr/>
        </p:nvSpPr>
        <p:spPr>
          <a:xfrm>
            <a:off x="819150" y="5010150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Deliverables: processed corpus, preprocessing pipeline doc, and EDA report.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04C5C4-92A1-4105-A39C-6F4E23FDA4B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Customer Support RAG Chatbot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7ED18-48D3-4888-AB95-E85178F48C50}"/>
              </a:ext>
            </a:extLst>
          </p:cNvPr>
          <p:cNvSpPr>
            <a:spLocks noGrp="1"/>
          </p:cNvSpPr>
          <p:nvPr/>
        </p:nvSpPr>
        <p:spPr>
          <a:xfrm>
            <a:off x="11315700" y="64008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5562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AD40639-3BD9-4732-8800-1DDF89D2703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4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Milestone 2: retrieval and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2BD9D9-0D72-48EC-8AD5-825CF6A0BEBF}"/>
              </a:ext>
            </a:extLst>
          </p:cNvPr>
          <p:cNvSpPr>
            <a:spLocks noGrp="1"/>
          </p:cNvSpPr>
          <p:nvPr/>
        </p:nvSpPr>
        <p:spPr>
          <a:xfrm>
            <a:off x="628650" y="904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The model path is modular, testable, and configurable by provider.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A082F-BB7F-45A2-85CF-BAAF0A511211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619250" cy="47625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5C5DC1-32DD-4B63-91F6-9EE80D0693EC}"/>
              </a:ext>
            </a:extLst>
          </p:cNvPr>
          <p:cNvSpPr>
            <a:spLocks noGrp="1"/>
          </p:cNvSpPr>
          <p:nvPr/>
        </p:nvSpPr>
        <p:spPr>
          <a:xfrm>
            <a:off x="2286000" y="1276350"/>
            <a:ext cx="552450" cy="4762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7223BA-5671-4D48-B417-A4502740147C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10861548" cy="895350"/>
          </a:xfrm>
          <a:prstGeom prst="roundRect">
            <a:avLst>
              <a:gd name="adj" fmla="val 8511"/>
            </a:avLst>
          </a:prstGeom>
          <a:solidFill>
            <a:srgbClr val="F6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7CEA94-ECB8-4D63-92CE-7A3DC4AA4024}"/>
              </a:ext>
            </a:extLst>
          </p:cNvPr>
          <p:cNvSpPr>
            <a:spLocks noGrp="1"/>
          </p:cNvSpPr>
          <p:nvPr/>
        </p:nvSpPr>
        <p:spPr>
          <a:xfrm>
            <a:off x="990600" y="2038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59C56D-F0FB-4671-B425-BF40D10CD873}"/>
              </a:ext>
            </a:extLst>
          </p:cNvPr>
          <p:cNvSpPr>
            <a:spLocks noGrp="1"/>
          </p:cNvSpPr>
          <p:nvPr/>
        </p:nvSpPr>
        <p:spPr>
          <a:xfrm>
            <a:off x="1885950" y="2114550"/>
            <a:ext cx="857250" cy="6667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0A5F5-BF87-4A7C-A01F-888933BCD5A1}"/>
              </a:ext>
            </a:extLst>
          </p:cNvPr>
          <p:cNvSpPr>
            <a:spLocks noGrp="1"/>
          </p:cNvSpPr>
          <p:nvPr/>
        </p:nvSpPr>
        <p:spPr>
          <a:xfrm>
            <a:off x="2971800" y="20383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2F6FAB"/>
                </a:solidFill>
                <a:latin typeface="Aptos"/>
                <a:ea typeface="Aptos"/>
                <a:cs typeface="Aptos"/>
              </a:rPr>
              <a:t>Dense vector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CA7628-0050-4C8F-8D06-020BE2B5728F}"/>
              </a:ext>
            </a:extLst>
          </p:cNvPr>
          <p:cNvSpPr>
            <a:spLocks noGrp="1"/>
          </p:cNvSpPr>
          <p:nvPr/>
        </p:nvSpPr>
        <p:spPr>
          <a:xfrm>
            <a:off x="4533900" y="2114550"/>
            <a:ext cx="857250" cy="6667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72FF36-27CB-42C1-8A8F-69792DC88388}"/>
              </a:ext>
            </a:extLst>
          </p:cNvPr>
          <p:cNvSpPr>
            <a:spLocks noGrp="1"/>
          </p:cNvSpPr>
          <p:nvPr/>
        </p:nvSpPr>
        <p:spPr>
          <a:xfrm>
            <a:off x="5619750" y="20383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0B8A6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8A6A"/>
                </a:solidFill>
                <a:latin typeface="Aptos"/>
                <a:ea typeface="Aptos"/>
                <a:cs typeface="Aptos"/>
              </a:rPr>
              <a:t>BM25 sparse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238541-C660-4F4E-AF8C-DD4F9EC5B91A}"/>
              </a:ext>
            </a:extLst>
          </p:cNvPr>
          <p:cNvSpPr>
            <a:spLocks noGrp="1"/>
          </p:cNvSpPr>
          <p:nvPr/>
        </p:nvSpPr>
        <p:spPr>
          <a:xfrm>
            <a:off x="7162800" y="2114550"/>
            <a:ext cx="857250" cy="6667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E475A9-6E7B-464E-A42A-A278A58CC83B}"/>
              </a:ext>
            </a:extLst>
          </p:cNvPr>
          <p:cNvSpPr>
            <a:spLocks noGrp="1"/>
          </p:cNvSpPr>
          <p:nvPr/>
        </p:nvSpPr>
        <p:spPr>
          <a:xfrm>
            <a:off x="8248650" y="20383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AB"/>
                </a:solidFill>
                <a:latin typeface="Aptos"/>
                <a:ea typeface="Aptos"/>
                <a:cs typeface="Aptos"/>
              </a:rPr>
              <a:t>RRF hybrid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8569EF-98E8-4C1E-904B-71CA7BF90A39}"/>
              </a:ext>
            </a:extLst>
          </p:cNvPr>
          <p:cNvSpPr>
            <a:spLocks noGrp="1"/>
          </p:cNvSpPr>
          <p:nvPr/>
        </p:nvSpPr>
        <p:spPr>
          <a:xfrm>
            <a:off x="9791700" y="2114550"/>
            <a:ext cx="857250" cy="6667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7A4D60-E59A-4820-AC24-B5036E39B908}"/>
              </a:ext>
            </a:extLst>
          </p:cNvPr>
          <p:cNvSpPr>
            <a:spLocks noGrp="1"/>
          </p:cNvSpPr>
          <p:nvPr/>
        </p:nvSpPr>
        <p:spPr>
          <a:xfrm>
            <a:off x="10801350" y="2038350"/>
            <a:ext cx="895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5B45AB-F063-4CA7-BDF0-15FC986C8884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4762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F6C832-9F7E-4306-AD97-DE6A5852E924}"/>
              </a:ext>
            </a:extLst>
          </p:cNvPr>
          <p:cNvSpPr>
            <a:spLocks noGrp="1"/>
          </p:cNvSpPr>
          <p:nvPr/>
        </p:nvSpPr>
        <p:spPr>
          <a:xfrm>
            <a:off x="1181100" y="35242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AB"/>
                </a:solidFill>
                <a:latin typeface="Aptos"/>
                <a:ea typeface="Aptos"/>
                <a:cs typeface="Aptos"/>
              </a:rPr>
              <a:t>Vector store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FFEF59-3DE1-4DE4-8AC6-FBBA45EE6943}"/>
              </a:ext>
            </a:extLst>
          </p:cNvPr>
          <p:cNvSpPr>
            <a:spLocks noGrp="1"/>
          </p:cNvSpPr>
          <p:nvPr/>
        </p:nvSpPr>
        <p:spPr>
          <a:xfrm>
            <a:off x="1181100" y="4000500"/>
            <a:ext cx="3905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Qdrant collection stores dense and sparse vectors plus source, page number, chunk index, and build metadata.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986E77-618E-4BB6-AFBE-A484FCD77B4C}"/>
              </a:ext>
            </a:extLst>
          </p:cNvPr>
          <p:cNvSpPr>
            <a:spLocks noGrp="1"/>
          </p:cNvSpPr>
          <p:nvPr/>
        </p:nvSpPr>
        <p:spPr>
          <a:xfrm>
            <a:off x="6515100" y="3276600"/>
            <a:ext cx="4762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E23A64-7934-4ED8-A95A-D07A46E18344}"/>
              </a:ext>
            </a:extLst>
          </p:cNvPr>
          <p:cNvSpPr>
            <a:spLocks noGrp="1"/>
          </p:cNvSpPr>
          <p:nvPr/>
        </p:nvSpPr>
        <p:spPr>
          <a:xfrm>
            <a:off x="6781800" y="35242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0B8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8A6A"/>
                </a:solidFill>
                <a:latin typeface="Aptos"/>
                <a:ea typeface="Aptos"/>
                <a:cs typeface="Aptos"/>
              </a:rPr>
              <a:t>LLM layer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377ECE-58E4-4A77-95A6-E2CA4300B76C}"/>
              </a:ext>
            </a:extLst>
          </p:cNvPr>
          <p:cNvSpPr>
            <a:spLocks noGrp="1"/>
          </p:cNvSpPr>
          <p:nvPr/>
        </p:nvSpPr>
        <p:spPr>
          <a:xfrm>
            <a:off x="6781800" y="4000500"/>
            <a:ext cx="3905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Factory supports Cohere and Azure OpenAI. Optional reranking can use Cohere or Azure Cohere providers.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D2F7C7-2C4D-4E9B-BEF8-E075A795136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Customer Support RAG Chatbot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0FBDA5-E8F6-409D-9BA8-72318AF71E87}"/>
              </a:ext>
            </a:extLst>
          </p:cNvPr>
          <p:cNvSpPr>
            <a:spLocks noGrp="1"/>
          </p:cNvSpPr>
          <p:nvPr/>
        </p:nvSpPr>
        <p:spPr>
          <a:xfrm>
            <a:off x="11315700" y="64008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732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1BDD36-BA76-4C05-8C54-BED2DC61594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4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Evaluation snapshot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60492-37A1-4DA0-AEF3-C6BAABE58809}"/>
              </a:ext>
            </a:extLst>
          </p:cNvPr>
          <p:cNvSpPr>
            <a:spLocks noGrp="1"/>
          </p:cNvSpPr>
          <p:nvPr/>
        </p:nvSpPr>
        <p:spPr>
          <a:xfrm>
            <a:off x="628650" y="904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The current MLflow comparison is a smoke benchmark and should be expanded before production sign-off.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37E50-3966-465D-89E9-5DE7344E3F86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619250" cy="47625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570D0-DDDC-47FB-AAE4-FB2A3594C27B}"/>
              </a:ext>
            </a:extLst>
          </p:cNvPr>
          <p:cNvSpPr>
            <a:spLocks noGrp="1"/>
          </p:cNvSpPr>
          <p:nvPr/>
        </p:nvSpPr>
        <p:spPr>
          <a:xfrm>
            <a:off x="2286000" y="1276350"/>
            <a:ext cx="552450" cy="4762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025452-9366-427F-A9F2-F44332DA299A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1047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6216F-66CB-4B77-831E-075F85AE0CEF}"/>
              </a:ext>
            </a:extLst>
          </p:cNvPr>
          <p:cNvSpPr>
            <a:spLocks noGrp="1"/>
          </p:cNvSpPr>
          <p:nvPr/>
        </p:nvSpPr>
        <p:spPr>
          <a:xfrm>
            <a:off x="1066800" y="18669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dense_no_reranker: relevancy 1.0000, recall 1.0000, precision 1.0000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3206CC-5B94-4024-AD98-7DE1F43AA0E7}"/>
              </a:ext>
            </a:extLst>
          </p:cNvPr>
          <p:cNvSpPr>
            <a:spLocks noGrp="1"/>
          </p:cNvSpPr>
          <p:nvPr/>
        </p:nvSpPr>
        <p:spPr>
          <a:xfrm>
            <a:off x="857250" y="2495550"/>
            <a:ext cx="10477500" cy="514350"/>
          </a:xfrm>
          <a:prstGeom prst="roundRect">
            <a:avLst>
              <a:gd name="adj" fmla="val 14815"/>
            </a:avLst>
          </a:prstGeom>
          <a:solidFill>
            <a:srgbClr val="F6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08D8E7-F2DF-4F52-B857-1A1F5AAE57D9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sparse_no_reranker: relevancy 1.0000, recall 1.0000, precision 1.0000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912080-8427-4C91-BC06-57B676733BA0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10477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C5D969-CAEC-49C8-84AF-D8B8B66F0CD7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hybrid_no_reranker: relevancy 1.0000, recall 1.0000, precision 1.0000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48D978-3FEF-460C-8CA6-FC6ECCA13413}"/>
              </a:ext>
            </a:extLst>
          </p:cNvPr>
          <p:cNvSpPr>
            <a:spLocks noGrp="1"/>
          </p:cNvSpPr>
          <p:nvPr/>
        </p:nvSpPr>
        <p:spPr>
          <a:xfrm>
            <a:off x="857250" y="4057650"/>
            <a:ext cx="10477500" cy="514350"/>
          </a:xfrm>
          <a:prstGeom prst="roundRect">
            <a:avLst>
              <a:gd name="adj" fmla="val 14815"/>
            </a:avLst>
          </a:prstGeom>
          <a:solidFill>
            <a:srgbClr val="F6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61666D-15D5-4ABA-9D3B-5F42945D83D3}"/>
              </a:ext>
            </a:extLst>
          </p:cNvPr>
          <p:cNvSpPr>
            <a:spLocks noGrp="1"/>
          </p:cNvSpPr>
          <p:nvPr/>
        </p:nvSpPr>
        <p:spPr>
          <a:xfrm>
            <a:off x="1123950" y="4195571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hybrid_with_reranker: relevancy 0.9788, recall 1.0000, precision 1.0000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497242-3470-45AB-947F-76DA58858831}"/>
              </a:ext>
            </a:extLst>
          </p:cNvPr>
          <p:cNvSpPr>
            <a:spLocks noGrp="1"/>
          </p:cNvSpPr>
          <p:nvPr/>
        </p:nvSpPr>
        <p:spPr>
          <a:xfrm>
            <a:off x="857250" y="5143499"/>
            <a:ext cx="10477500" cy="809625"/>
          </a:xfrm>
          <a:prstGeom prst="roundRect">
            <a:avLst>
              <a:gd name="adj" fmla="val 11429"/>
            </a:avLst>
          </a:prstGeom>
          <a:solidFill>
            <a:srgbClr val="0B8A6A"/>
          </a:solidFill>
          <a:ln w="9525">
            <a:solidFill>
              <a:srgbClr val="0B8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633EAD-3991-418B-9162-4D27A79BCD22}"/>
              </a:ext>
            </a:extLst>
          </p:cNvPr>
          <p:cNvSpPr>
            <a:spLocks noGrp="1"/>
          </p:cNvSpPr>
          <p:nvPr/>
        </p:nvSpPr>
        <p:spPr>
          <a:xfrm>
            <a:off x="1123950" y="5334000"/>
            <a:ext cx="962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interpretation: context recall and context precision are 1.0000 in the recorded runs; hybrid retrieval produced faithfulness 0.8000 on the available evaluable row.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960443-BD5D-459D-98E5-5ED7F6F387F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Customer Support RAG Chatbot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F3CEE9-A686-4A05-8F71-564FB3FF133D}"/>
              </a:ext>
            </a:extLst>
          </p:cNvPr>
          <p:cNvSpPr>
            <a:spLocks noGrp="1"/>
          </p:cNvSpPr>
          <p:nvPr/>
        </p:nvSpPr>
        <p:spPr>
          <a:xfrm>
            <a:off x="11315700" y="64008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613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F691AD2-CFF8-406C-AD48-86ED4CEEDD3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4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Milestone 3: API, Azure path, and security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5B3859-F5F1-4D9B-99B0-8C3B328B1A78}"/>
              </a:ext>
            </a:extLst>
          </p:cNvPr>
          <p:cNvSpPr>
            <a:spLocks noGrp="1"/>
          </p:cNvSpPr>
          <p:nvPr/>
        </p:nvSpPr>
        <p:spPr>
          <a:xfrm>
            <a:off x="628650" y="904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The backend is ready to sit behind a support portal.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702A90-F079-4963-8A0E-ECC69D030997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619250" cy="47625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2CD8F3-B38A-4790-8EB9-00D29A2A0AFD}"/>
              </a:ext>
            </a:extLst>
          </p:cNvPr>
          <p:cNvSpPr>
            <a:spLocks noGrp="1"/>
          </p:cNvSpPr>
          <p:nvPr/>
        </p:nvSpPr>
        <p:spPr>
          <a:xfrm>
            <a:off x="2286000" y="1276350"/>
            <a:ext cx="552450" cy="4762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9B16BE-AEF6-4A5F-9506-EB19A503D563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3333750" cy="3429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40208-7B3B-4659-9620-EBB85238F370}"/>
              </a:ext>
            </a:extLst>
          </p:cNvPr>
          <p:cNvSpPr>
            <a:spLocks noGrp="1"/>
          </p:cNvSpPr>
          <p:nvPr/>
        </p:nvSpPr>
        <p:spPr>
          <a:xfrm>
            <a:off x="990600" y="19812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AB"/>
                </a:solidFill>
                <a:latin typeface="Aptos"/>
                <a:ea typeface="Aptos"/>
                <a:cs typeface="Aptos"/>
              </a:rPr>
              <a:t>API surface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B86D1-7109-4A5C-A013-E9C121931F1B}"/>
              </a:ext>
            </a:extLst>
          </p:cNvPr>
          <p:cNvSpPr>
            <a:spLocks noGrp="1"/>
          </p:cNvSpPr>
          <p:nvPr/>
        </p:nvSpPr>
        <p:spPr>
          <a:xfrm>
            <a:off x="990600" y="2476500"/>
            <a:ext cx="23812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POST /files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POST /files/build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POST /ask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POST /ask/stream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POST /feedback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GET /metrics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8F0CFA-39F8-45FB-A319-3A8133C0EC63}"/>
              </a:ext>
            </a:extLst>
          </p:cNvPr>
          <p:cNvSpPr>
            <a:spLocks noGrp="1"/>
          </p:cNvSpPr>
          <p:nvPr/>
        </p:nvSpPr>
        <p:spPr>
          <a:xfrm>
            <a:off x="4438650" y="1714500"/>
            <a:ext cx="3333750" cy="3429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82A82C-8A65-42C6-B8EF-EF46E719A69E}"/>
              </a:ext>
            </a:extLst>
          </p:cNvPr>
          <p:cNvSpPr>
            <a:spLocks noGrp="1"/>
          </p:cNvSpPr>
          <p:nvPr/>
        </p:nvSpPr>
        <p:spPr>
          <a:xfrm>
            <a:off x="4705350" y="19812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0B8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8A6A"/>
                </a:solidFill>
                <a:latin typeface="Aptos"/>
                <a:ea typeface="Aptos"/>
                <a:cs typeface="Aptos"/>
              </a:rPr>
              <a:t>Azure mapping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80F238-55DE-458D-B813-F7351B48222F}"/>
              </a:ext>
            </a:extLst>
          </p:cNvPr>
          <p:cNvSpPr>
            <a:spLocks noGrp="1"/>
          </p:cNvSpPr>
          <p:nvPr/>
        </p:nvSpPr>
        <p:spPr>
          <a:xfrm>
            <a:off x="4705350" y="2476500"/>
            <a:ext cx="25717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App Service or Container Apps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Blob Storage for artifacts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Azure SQL for metadata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Azure OpenAI option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Azure Monitor alerts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4E8B5E-52CC-4CDC-A634-9EE49F3BD085}"/>
              </a:ext>
            </a:extLst>
          </p:cNvPr>
          <p:cNvSpPr>
            <a:spLocks noGrp="1"/>
          </p:cNvSpPr>
          <p:nvPr/>
        </p:nvSpPr>
        <p:spPr>
          <a:xfrm>
            <a:off x="8153400" y="1714500"/>
            <a:ext cx="3333750" cy="3429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6CFD1C-7560-4576-90C9-E0AF99944FBB}"/>
              </a:ext>
            </a:extLst>
          </p:cNvPr>
          <p:cNvSpPr>
            <a:spLocks noGrp="1"/>
          </p:cNvSpPr>
          <p:nvPr/>
        </p:nvSpPr>
        <p:spPr>
          <a:xfrm>
            <a:off x="8420100" y="19812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C4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C400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255302-97AD-456F-BAB2-892BA7FB53DE}"/>
              </a:ext>
            </a:extLst>
          </p:cNvPr>
          <p:cNvSpPr>
            <a:spLocks noGrp="1"/>
          </p:cNvSpPr>
          <p:nvPr/>
        </p:nvSpPr>
        <p:spPr>
          <a:xfrm>
            <a:off x="8420100" y="2476500"/>
            <a:ext cx="25717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X-API-Key protected routes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PII redaction before indexing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Duplicate upload prevention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Request IDs in logs</a:t>
            </a:r>
          </a:p>
          <a:p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Key Vault recommended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A94B7-6566-442E-8D16-C2E284D0765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Customer Support RAG Chatbot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878A5F-7C82-41F0-B331-95820B1FA283}"/>
              </a:ext>
            </a:extLst>
          </p:cNvPr>
          <p:cNvSpPr>
            <a:spLocks noGrp="1"/>
          </p:cNvSpPr>
          <p:nvPr/>
        </p:nvSpPr>
        <p:spPr>
          <a:xfrm>
            <a:off x="11315700" y="64008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7442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7A5784D-3384-46D5-B5E8-2A9231E2CC0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4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Milestone 4: MLOps and monitoring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A6056C-2097-4888-9272-4D28368B1354}"/>
              </a:ext>
            </a:extLst>
          </p:cNvPr>
          <p:cNvSpPr>
            <a:spLocks noGrp="1"/>
          </p:cNvSpPr>
          <p:nvPr/>
        </p:nvSpPr>
        <p:spPr>
          <a:xfrm>
            <a:off x="628650" y="904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Operational signals are captured where the support team can act on them.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FE186E-1599-4C15-AF5A-FC1A8945741C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619250" cy="47625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D2D801-1B12-40D0-ADF3-012BA100D505}"/>
              </a:ext>
            </a:extLst>
          </p:cNvPr>
          <p:cNvSpPr>
            <a:spLocks noGrp="1"/>
          </p:cNvSpPr>
          <p:nvPr/>
        </p:nvSpPr>
        <p:spPr>
          <a:xfrm>
            <a:off x="2286000" y="1276350"/>
            <a:ext cx="552450" cy="4762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51E557-AA96-4833-9B5E-2482CD80391A}"/>
              </a:ext>
            </a:extLst>
          </p:cNvPr>
          <p:cNvSpPr>
            <a:spLocks noGrp="1"/>
          </p:cNvSpPr>
          <p:nvPr/>
        </p:nvSpPr>
        <p:spPr>
          <a:xfrm>
            <a:off x="838200" y="1790700"/>
            <a:ext cx="10382250" cy="1104900"/>
          </a:xfrm>
          <a:prstGeom prst="roundRect">
            <a:avLst>
              <a:gd name="adj" fmla="val 6897"/>
            </a:avLst>
          </a:prstGeom>
          <a:solidFill>
            <a:srgbClr val="2F6FAB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1A8CE-2C8C-4EB1-95A0-58491F02F01D}"/>
              </a:ext>
            </a:extLst>
          </p:cNvPr>
          <p:cNvSpPr>
            <a:spLocks noGrp="1"/>
          </p:cNvSpPr>
          <p:nvPr/>
        </p:nvSpPr>
        <p:spPr>
          <a:xfrm>
            <a:off x="1143000" y="203835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Prometheus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734CF-C405-4000-A8A3-3D0217EC531C}"/>
              </a:ext>
            </a:extLst>
          </p:cNvPr>
          <p:cNvSpPr>
            <a:spLocks noGrp="1"/>
          </p:cNvSpPr>
          <p:nvPr/>
        </p:nvSpPr>
        <p:spPr>
          <a:xfrm>
            <a:off x="1143000" y="245745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 count, request latency, embedding latency, reranking latency, LLM latency, Qdrant latency, token usage, feedback count, satisfaction score.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4ED553-E0F3-4720-8532-96F0DDDF3C8C}"/>
              </a:ext>
            </a:extLst>
          </p:cNvPr>
          <p:cNvSpPr>
            <a:spLocks noGrp="1"/>
          </p:cNvSpPr>
          <p:nvPr/>
        </p:nvSpPr>
        <p:spPr>
          <a:xfrm>
            <a:off x="838200" y="3257550"/>
            <a:ext cx="49339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8FDF69-AB27-405E-966B-FA7F021D4F11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0B8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8A6A"/>
                </a:solidFill>
                <a:latin typeface="Aptos"/>
                <a:ea typeface="Aptos"/>
                <a:cs typeface="Aptos"/>
              </a:rPr>
              <a:t>Grafana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60A521-1223-495F-810F-E12B5197EACB}"/>
              </a:ext>
            </a:extLst>
          </p:cNvPr>
          <p:cNvSpPr>
            <a:spLocks noGrp="1"/>
          </p:cNvSpPr>
          <p:nvPr/>
        </p:nvSpPr>
        <p:spPr>
          <a:xfrm>
            <a:off x="1143000" y="4000500"/>
            <a:ext cx="3905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Dashboard JSON is generated at monitoring/grafana_dashboard.json and provisioned through monitoring/grafana.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A63605-DAE6-4896-ADA4-B2C31256BBF8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49339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CC88CA-9B4B-490D-B884-97AAA13A2618}"/>
              </a:ext>
            </a:extLst>
          </p:cNvPr>
          <p:cNvSpPr>
            <a:spLocks noGrp="1"/>
          </p:cNvSpPr>
          <p:nvPr/>
        </p:nvSpPr>
        <p:spPr>
          <a:xfrm>
            <a:off x="6591300" y="3543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0B8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8A6A"/>
                </a:solidFill>
                <a:latin typeface="Aptos"/>
                <a:ea typeface="Aptos"/>
                <a:cs typeface="Aptos"/>
              </a:rPr>
              <a:t>Retraining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6613C1-E9FC-4E2E-8AA7-371C3FD0F2B9}"/>
              </a:ext>
            </a:extLst>
          </p:cNvPr>
          <p:cNvSpPr>
            <a:spLocks noGrp="1"/>
          </p:cNvSpPr>
          <p:nvPr/>
        </p:nvSpPr>
        <p:spPr>
          <a:xfrm>
            <a:off x="6591300" y="4000500"/>
            <a:ext cx="3905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scripts/reindex_pipeline.py can run once or on a schedule, logs parameters and artifacts to MLflow, and refreshes embeddings.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5FB047-8633-490F-97ED-3B917526EFB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Customer Support RAG Chatbot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ED70A0-33D1-4575-8008-C58834DCC85D}"/>
              </a:ext>
            </a:extLst>
          </p:cNvPr>
          <p:cNvSpPr>
            <a:spLocks noGrp="1"/>
          </p:cNvSpPr>
          <p:nvPr/>
        </p:nvSpPr>
        <p:spPr>
          <a:xfrm>
            <a:off x="11315700" y="64008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444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DD88A48-D1F3-4C5B-987C-4F302F2AE03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4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Business impact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CB1E46-19E3-40D8-9F35-627688CD0472}"/>
              </a:ext>
            </a:extLst>
          </p:cNvPr>
          <p:cNvSpPr>
            <a:spLocks noGrp="1"/>
          </p:cNvSpPr>
          <p:nvPr/>
        </p:nvSpPr>
        <p:spPr>
          <a:xfrm>
            <a:off x="628650" y="904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The value story is measurable, not just technical.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59D101-8192-4440-9B59-6FA94369953F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619250" cy="47625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6DAF4C-10C7-4710-AF1E-D01AB9566F21}"/>
              </a:ext>
            </a:extLst>
          </p:cNvPr>
          <p:cNvSpPr>
            <a:spLocks noGrp="1"/>
          </p:cNvSpPr>
          <p:nvPr/>
        </p:nvSpPr>
        <p:spPr>
          <a:xfrm>
            <a:off x="2286000" y="1276350"/>
            <a:ext cx="552450" cy="4762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7D7EB0-637B-4C00-AC2C-AFDC7447CE69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103632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2D0A07-636F-4D2D-8015-42412E306F50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AB"/>
                </a:solidFill>
                <a:latin typeface="Aptos"/>
                <a:ea typeface="Aptos"/>
                <a:cs typeface="Aptos"/>
              </a:rPr>
              <a:t>First response 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7C3E0-1B81-4907-86C8-72E725D4306C}"/>
              </a:ext>
            </a:extLst>
          </p:cNvPr>
          <p:cNvSpPr>
            <a:spLocks noGrp="1"/>
          </p:cNvSpPr>
          <p:nvPr/>
        </p:nvSpPr>
        <p:spPr>
          <a:xfrm>
            <a:off x="4095750" y="18097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Reduce lookup delay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24DCA-2E4F-4D67-896F-BBC093CB1672}"/>
              </a:ext>
            </a:extLst>
          </p:cNvPr>
          <p:cNvSpPr>
            <a:spLocks noGrp="1"/>
          </p:cNvSpPr>
          <p:nvPr/>
        </p:nvSpPr>
        <p:spPr>
          <a:xfrm>
            <a:off x="10001250" y="1828800"/>
            <a:ext cx="666750" cy="152400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B4793F-7C84-4A91-ABBF-18C6DF8D0986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10363200" cy="495300"/>
          </a:xfrm>
          <a:prstGeom prst="roundRect">
            <a:avLst>
              <a:gd name="adj" fmla="val 15385"/>
            </a:avLst>
          </a:prstGeom>
          <a:solidFill>
            <a:srgbClr val="F6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E368A-BA52-4DB4-9E40-352044BEFD5B}"/>
              </a:ext>
            </a:extLst>
          </p:cNvPr>
          <p:cNvSpPr>
            <a:spLocks noGrp="1"/>
          </p:cNvSpPr>
          <p:nvPr/>
        </p:nvSpPr>
        <p:spPr>
          <a:xfrm>
            <a:off x="1143000" y="25336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AB"/>
                </a:solidFill>
                <a:latin typeface="Aptos"/>
                <a:ea typeface="Aptos"/>
                <a:cs typeface="Aptos"/>
              </a:rPr>
              <a:t>Deflection rate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E2DB5D-2368-488B-A1A2-48833BAAAB5F}"/>
              </a:ext>
            </a:extLst>
          </p:cNvPr>
          <p:cNvSpPr>
            <a:spLocks noGrp="1"/>
          </p:cNvSpPr>
          <p:nvPr/>
        </p:nvSpPr>
        <p:spPr>
          <a:xfrm>
            <a:off x="4095750" y="25336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Answer repeated questions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009510-EC9F-47BF-B6D0-CED60E7EF1C6}"/>
              </a:ext>
            </a:extLst>
          </p:cNvPr>
          <p:cNvSpPr>
            <a:spLocks noGrp="1"/>
          </p:cNvSpPr>
          <p:nvPr/>
        </p:nvSpPr>
        <p:spPr>
          <a:xfrm>
            <a:off x="10001250" y="2552700"/>
            <a:ext cx="666750" cy="152400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82BFD6-0CE0-40AB-9E73-878E873DC362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103632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A70A47-AD37-4D43-8ED0-A041123016CD}"/>
              </a:ext>
            </a:extLst>
          </p:cNvPr>
          <p:cNvSpPr>
            <a:spLocks noGrp="1"/>
          </p:cNvSpPr>
          <p:nvPr/>
        </p:nvSpPr>
        <p:spPr>
          <a:xfrm>
            <a:off x="1143000" y="32575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AB"/>
                </a:solidFill>
                <a:latin typeface="Aptos"/>
                <a:ea typeface="Aptos"/>
                <a:cs typeface="Aptos"/>
              </a:rPr>
              <a:t>Agent handle 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C7531D-1AC3-47D9-B3DC-129F55C72FAF}"/>
              </a:ext>
            </a:extLst>
          </p:cNvPr>
          <p:cNvSpPr>
            <a:spLocks noGrp="1"/>
          </p:cNvSpPr>
          <p:nvPr/>
        </p:nvSpPr>
        <p:spPr>
          <a:xfrm>
            <a:off x="4095750" y="32575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Shorten manual research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ABA58-BF48-41D9-87D6-16B78D6B4D81}"/>
              </a:ext>
            </a:extLst>
          </p:cNvPr>
          <p:cNvSpPr>
            <a:spLocks noGrp="1"/>
          </p:cNvSpPr>
          <p:nvPr/>
        </p:nvSpPr>
        <p:spPr>
          <a:xfrm>
            <a:off x="10001250" y="3276600"/>
            <a:ext cx="666750" cy="152400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F3F15C-6FD1-4D0B-8D1C-DDB1E4400DD7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10363200" cy="495300"/>
          </a:xfrm>
          <a:prstGeom prst="roundRect">
            <a:avLst>
              <a:gd name="adj" fmla="val 15385"/>
            </a:avLst>
          </a:prstGeom>
          <a:solidFill>
            <a:srgbClr val="F6F8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97680C-A6B0-4EA3-9C4F-75671B34BAF8}"/>
              </a:ext>
            </a:extLst>
          </p:cNvPr>
          <p:cNvSpPr>
            <a:spLocks noGrp="1"/>
          </p:cNvSpPr>
          <p:nvPr/>
        </p:nvSpPr>
        <p:spPr>
          <a:xfrm>
            <a:off x="1143000" y="39814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AB"/>
                </a:solidFill>
                <a:latin typeface="Aptos"/>
                <a:ea typeface="Aptos"/>
                <a:cs typeface="Aptos"/>
              </a:rPr>
              <a:t>Satisfaction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07E52C-D60E-4B25-9516-6080D8DB8CB3}"/>
              </a:ext>
            </a:extLst>
          </p:cNvPr>
          <p:cNvSpPr>
            <a:spLocks noGrp="1"/>
          </p:cNvSpPr>
          <p:nvPr/>
        </p:nvSpPr>
        <p:spPr>
          <a:xfrm>
            <a:off x="4095750" y="39814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Track feedback quality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1A61A6-CDF0-43F2-9240-972D8690ED43}"/>
              </a:ext>
            </a:extLst>
          </p:cNvPr>
          <p:cNvSpPr>
            <a:spLocks noGrp="1"/>
          </p:cNvSpPr>
          <p:nvPr/>
        </p:nvSpPr>
        <p:spPr>
          <a:xfrm>
            <a:off x="10001250" y="4000500"/>
            <a:ext cx="666750" cy="152400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1180B1-D491-41D1-B04D-8044382EEED0}"/>
              </a:ext>
            </a:extLst>
          </p:cNvPr>
          <p:cNvSpPr>
            <a:spLocks noGrp="1"/>
          </p:cNvSpPr>
          <p:nvPr/>
        </p:nvSpPr>
        <p:spPr>
          <a:xfrm>
            <a:off x="876300" y="4572000"/>
            <a:ext cx="103632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99A342-CA83-45D8-89A8-F6BAD6479875}"/>
              </a:ext>
            </a:extLst>
          </p:cNvPr>
          <p:cNvSpPr>
            <a:spLocks noGrp="1"/>
          </p:cNvSpPr>
          <p:nvPr/>
        </p:nvSpPr>
        <p:spPr>
          <a:xfrm>
            <a:off x="1143000" y="47053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2F6FA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AB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304D08-66A4-4E48-9CF3-8EA5FAD3FB7D}"/>
              </a:ext>
            </a:extLst>
          </p:cNvPr>
          <p:cNvSpPr>
            <a:spLocks noGrp="1"/>
          </p:cNvSpPr>
          <p:nvPr/>
        </p:nvSpPr>
        <p:spPr>
          <a:xfrm>
            <a:off x="4095750" y="47053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Scheduled reindexing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AC2236-FA56-45AA-9CB0-ED85DAFB4AAE}"/>
              </a:ext>
            </a:extLst>
          </p:cNvPr>
          <p:cNvSpPr>
            <a:spLocks noGrp="1"/>
          </p:cNvSpPr>
          <p:nvPr/>
        </p:nvSpPr>
        <p:spPr>
          <a:xfrm>
            <a:off x="10001250" y="4724400"/>
            <a:ext cx="666750" cy="152400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1D3F34-B2C0-48A6-A7F6-3DEDB270AD93}"/>
              </a:ext>
            </a:extLst>
          </p:cNvPr>
          <p:cNvSpPr>
            <a:spLocks noGrp="1"/>
          </p:cNvSpPr>
          <p:nvPr/>
        </p:nvSpPr>
        <p:spPr>
          <a:xfrm>
            <a:off x="914400" y="5638800"/>
            <a:ext cx="952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0B8A6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8A6A"/>
                </a:solidFill>
                <a:latin typeface="Aptos"/>
                <a:ea typeface="Aptos"/>
                <a:cs typeface="Aptos"/>
              </a:rPr>
              <a:t>Pilot targets: 40% faster first response for covered questions, satisfaction above 60%, average response latency below 3 seconds, and daily index refresh.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F932AD-8860-468E-940F-A87D93C6A68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Customer Support RAG Chatbot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0D034D-79C6-4CEE-BF9D-43CF5763DA59}"/>
              </a:ext>
            </a:extLst>
          </p:cNvPr>
          <p:cNvSpPr>
            <a:spLocks noGrp="1"/>
          </p:cNvSpPr>
          <p:nvPr/>
        </p:nvSpPr>
        <p:spPr>
          <a:xfrm>
            <a:off x="11315700" y="64008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2771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238B7236-D477-41E7-99CA-D301790CF40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4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66C433-EA98-4D94-8234-4B843A09BCEB}"/>
              </a:ext>
            </a:extLst>
          </p:cNvPr>
          <p:cNvSpPr>
            <a:spLocks noGrp="1"/>
          </p:cNvSpPr>
          <p:nvPr/>
        </p:nvSpPr>
        <p:spPr>
          <a:xfrm>
            <a:off x="628650" y="904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A short run shows the full support automation loop.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E5F5B5-9BD6-4ACE-A4A4-63E32AE5E4A3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619250" cy="47625"/>
          </a:xfrm>
          <a:prstGeom prst="rect">
            <a:avLst/>
          </a:prstGeom>
          <a:solidFill>
            <a:srgbClr val="0B8A6A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D81C98-786F-440D-A791-FE671495EC1E}"/>
              </a:ext>
            </a:extLst>
          </p:cNvPr>
          <p:cNvSpPr>
            <a:spLocks noGrp="1"/>
          </p:cNvSpPr>
          <p:nvPr/>
        </p:nvSpPr>
        <p:spPr>
          <a:xfrm>
            <a:off x="2286000" y="1276350"/>
            <a:ext cx="552450" cy="47625"/>
          </a:xfrm>
          <a:prstGeom prst="rect">
            <a:avLst/>
          </a:prstGeom>
          <a:solidFill>
            <a:srgbClr val="F2C400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2A6175-9D9A-45A9-9BB9-CDEACA144890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57C2C4-5699-422E-A01E-ABB6A1E04565}"/>
              </a:ext>
            </a:extLst>
          </p:cNvPr>
          <p:cNvSpPr>
            <a:spLocks noGrp="1"/>
          </p:cNvSpPr>
          <p:nvPr/>
        </p:nvSpPr>
        <p:spPr>
          <a:xfrm>
            <a:off x="1066800" y="1876425"/>
            <a:ext cx="438150" cy="438150"/>
          </a:xfrm>
          <a:prstGeom prst="ellipse">
            <a:avLst/>
          </a:prstGeom>
          <a:solidFill>
            <a:srgbClr val="2F6FAB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65AF59-D5FA-4D96-9361-508FFC9616B4}"/>
              </a:ext>
            </a:extLst>
          </p:cNvPr>
          <p:cNvSpPr>
            <a:spLocks noGrp="1"/>
          </p:cNvSpPr>
          <p:nvPr/>
        </p:nvSpPr>
        <p:spPr>
          <a:xfrm>
            <a:off x="1171575" y="1971675"/>
            <a:ext cx="22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57FD66-496F-472F-89EC-A0F40B3AF49B}"/>
              </a:ext>
            </a:extLst>
          </p:cNvPr>
          <p:cNvSpPr>
            <a:spLocks noGrp="1"/>
          </p:cNvSpPr>
          <p:nvPr/>
        </p:nvSpPr>
        <p:spPr>
          <a:xfrm>
            <a:off x="1695450" y="1847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Start stack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380D0F-2D7A-47B8-A99E-6A6AD4AD5380}"/>
              </a:ext>
            </a:extLst>
          </p:cNvPr>
          <p:cNvSpPr>
            <a:spLocks noGrp="1"/>
          </p:cNvSpPr>
          <p:nvPr/>
        </p:nvSpPr>
        <p:spPr>
          <a:xfrm>
            <a:off x="1695450" y="21336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Docker Compose or local uvicorn + Qdrant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07E160-21A0-4CE3-8E56-5CD0D39FEE4B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5BED40-DB38-450D-BABF-1832254B9C52}"/>
              </a:ext>
            </a:extLst>
          </p:cNvPr>
          <p:cNvSpPr>
            <a:spLocks noGrp="1"/>
          </p:cNvSpPr>
          <p:nvPr/>
        </p:nvSpPr>
        <p:spPr>
          <a:xfrm>
            <a:off x="1066800" y="3095625"/>
            <a:ext cx="438150" cy="438150"/>
          </a:xfrm>
          <a:prstGeom prst="ellipse">
            <a:avLst/>
          </a:prstGeom>
          <a:solidFill>
            <a:srgbClr val="0B8A6A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AD81A7-4A53-4B42-AEF0-B63CE1FD0928}"/>
              </a:ext>
            </a:extLst>
          </p:cNvPr>
          <p:cNvSpPr>
            <a:spLocks noGrp="1"/>
          </p:cNvSpPr>
          <p:nvPr/>
        </p:nvSpPr>
        <p:spPr>
          <a:xfrm>
            <a:off x="1171575" y="3190875"/>
            <a:ext cx="22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FA20B-E276-4C3D-9421-9365954A9838}"/>
              </a:ext>
            </a:extLst>
          </p:cNvPr>
          <p:cNvSpPr>
            <a:spLocks noGrp="1"/>
          </p:cNvSpPr>
          <p:nvPr/>
        </p:nvSpPr>
        <p:spPr>
          <a:xfrm>
            <a:off x="1695450" y="3067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Upload policy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3339F-7E86-4E6B-8DA4-0F65FB64A870}"/>
              </a:ext>
            </a:extLst>
          </p:cNvPr>
          <p:cNvSpPr>
            <a:spLocks noGrp="1"/>
          </p:cNvSpPr>
          <p:nvPr/>
        </p:nvSpPr>
        <p:spPr>
          <a:xfrm>
            <a:off x="1695450" y="3352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POST /files with sample support document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454B64-40CF-4E02-880B-81A01F5F720C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904255-CDB0-454B-9ABA-F03F18C644F3}"/>
              </a:ext>
            </a:extLst>
          </p:cNvPr>
          <p:cNvSpPr>
            <a:spLocks noGrp="1"/>
          </p:cNvSpPr>
          <p:nvPr/>
        </p:nvSpPr>
        <p:spPr>
          <a:xfrm>
            <a:off x="1066800" y="4314825"/>
            <a:ext cx="438150" cy="438150"/>
          </a:xfrm>
          <a:prstGeom prst="ellipse">
            <a:avLst/>
          </a:prstGeom>
          <a:solidFill>
            <a:srgbClr val="2F6FAB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E18939-3208-42E1-998B-489943A507EC}"/>
              </a:ext>
            </a:extLst>
          </p:cNvPr>
          <p:cNvSpPr>
            <a:spLocks noGrp="1"/>
          </p:cNvSpPr>
          <p:nvPr/>
        </p:nvSpPr>
        <p:spPr>
          <a:xfrm>
            <a:off x="1171575" y="4410075"/>
            <a:ext cx="22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5A8FD0-1243-40D5-A571-5396E507384A}"/>
              </a:ext>
            </a:extLst>
          </p:cNvPr>
          <p:cNvSpPr>
            <a:spLocks noGrp="1"/>
          </p:cNvSpPr>
          <p:nvPr/>
        </p:nvSpPr>
        <p:spPr>
          <a:xfrm>
            <a:off x="1695450" y="42862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Build index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3B8351-59D2-4DD2-92A7-04DDDB3BE699}"/>
              </a:ext>
            </a:extLst>
          </p:cNvPr>
          <p:cNvSpPr>
            <a:spLocks noGrp="1"/>
          </p:cNvSpPr>
          <p:nvPr/>
        </p:nvSpPr>
        <p:spPr>
          <a:xfrm>
            <a:off x="1695450" y="4572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POST /files/build creates chunks and vectors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8D07BF-E2AD-47A7-82E8-FA259962E800}"/>
              </a:ext>
            </a:extLst>
          </p:cNvPr>
          <p:cNvSpPr>
            <a:spLocks noGrp="1"/>
          </p:cNvSpPr>
          <p:nvPr/>
        </p:nvSpPr>
        <p:spPr>
          <a:xfrm>
            <a:off x="6381750" y="1676400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37AC5C-DF65-4ACB-9288-923D07ADA189}"/>
              </a:ext>
            </a:extLst>
          </p:cNvPr>
          <p:cNvSpPr>
            <a:spLocks noGrp="1"/>
          </p:cNvSpPr>
          <p:nvPr/>
        </p:nvSpPr>
        <p:spPr>
          <a:xfrm>
            <a:off x="6572250" y="1876425"/>
            <a:ext cx="438150" cy="438150"/>
          </a:xfrm>
          <a:prstGeom prst="ellipse">
            <a:avLst/>
          </a:prstGeom>
          <a:solidFill>
            <a:srgbClr val="0B8A6A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84DC64-4463-4AD1-959E-FADE3AF6567E}"/>
              </a:ext>
            </a:extLst>
          </p:cNvPr>
          <p:cNvSpPr>
            <a:spLocks noGrp="1"/>
          </p:cNvSpPr>
          <p:nvPr/>
        </p:nvSpPr>
        <p:spPr>
          <a:xfrm>
            <a:off x="6677025" y="1971675"/>
            <a:ext cx="22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5DA2D-E754-4E59-80BB-5FB4D8F3A316}"/>
              </a:ext>
            </a:extLst>
          </p:cNvPr>
          <p:cNvSpPr>
            <a:spLocks noGrp="1"/>
          </p:cNvSpPr>
          <p:nvPr/>
        </p:nvSpPr>
        <p:spPr>
          <a:xfrm>
            <a:off x="7200900" y="1847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Ask question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92E0BD-C26C-48FF-813C-5E88EA436EF2}"/>
              </a:ext>
            </a:extLst>
          </p:cNvPr>
          <p:cNvSpPr>
            <a:spLocks noGrp="1"/>
          </p:cNvSpPr>
          <p:nvPr/>
        </p:nvSpPr>
        <p:spPr>
          <a:xfrm>
            <a:off x="7200900" y="21336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POST /ask returns grounded answer and sources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2648117-FC90-4EF9-954F-201010AEED50}"/>
              </a:ext>
            </a:extLst>
          </p:cNvPr>
          <p:cNvSpPr>
            <a:spLocks noGrp="1"/>
          </p:cNvSpPr>
          <p:nvPr/>
        </p:nvSpPr>
        <p:spPr>
          <a:xfrm>
            <a:off x="6381750" y="2895600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34422ED-6095-48D7-A94F-7BDC3A08ED49}"/>
              </a:ext>
            </a:extLst>
          </p:cNvPr>
          <p:cNvSpPr>
            <a:spLocks noGrp="1"/>
          </p:cNvSpPr>
          <p:nvPr/>
        </p:nvSpPr>
        <p:spPr>
          <a:xfrm>
            <a:off x="6572250" y="3095625"/>
            <a:ext cx="438150" cy="438150"/>
          </a:xfrm>
          <a:prstGeom prst="ellipse">
            <a:avLst/>
          </a:prstGeom>
          <a:solidFill>
            <a:srgbClr val="2F6FAB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C3BD6E-D1A6-415B-AE83-7DB4861B8ED0}"/>
              </a:ext>
            </a:extLst>
          </p:cNvPr>
          <p:cNvSpPr>
            <a:spLocks noGrp="1"/>
          </p:cNvSpPr>
          <p:nvPr/>
        </p:nvSpPr>
        <p:spPr>
          <a:xfrm>
            <a:off x="6677025" y="3190875"/>
            <a:ext cx="22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6BA7FE-821B-4454-B866-23643AE108B2}"/>
              </a:ext>
            </a:extLst>
          </p:cNvPr>
          <p:cNvSpPr>
            <a:spLocks noGrp="1"/>
          </p:cNvSpPr>
          <p:nvPr/>
        </p:nvSpPr>
        <p:spPr>
          <a:xfrm>
            <a:off x="7200900" y="3067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Submit feedback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FF2233-0855-429C-BD95-9FAF5F5AF6BC}"/>
              </a:ext>
            </a:extLst>
          </p:cNvPr>
          <p:cNvSpPr>
            <a:spLocks noGrp="1"/>
          </p:cNvSpPr>
          <p:nvPr/>
        </p:nvSpPr>
        <p:spPr>
          <a:xfrm>
            <a:off x="7200900" y="33528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POST /feedback updates satisfaction KPI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DA257D7-8506-45CC-837C-FDCF509BDFA2}"/>
              </a:ext>
            </a:extLst>
          </p:cNvPr>
          <p:cNvSpPr>
            <a:spLocks noGrp="1"/>
          </p:cNvSpPr>
          <p:nvPr/>
        </p:nvSpPr>
        <p:spPr>
          <a:xfrm>
            <a:off x="6381750" y="4114800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FAFF8B9-C78F-4D74-9FA5-A7386F53DC98}"/>
              </a:ext>
            </a:extLst>
          </p:cNvPr>
          <p:cNvSpPr>
            <a:spLocks noGrp="1"/>
          </p:cNvSpPr>
          <p:nvPr/>
        </p:nvSpPr>
        <p:spPr>
          <a:xfrm>
            <a:off x="6572250" y="4314825"/>
            <a:ext cx="438150" cy="438150"/>
          </a:xfrm>
          <a:prstGeom prst="ellipse">
            <a:avLst/>
          </a:prstGeom>
          <a:solidFill>
            <a:srgbClr val="0B8A6A"/>
          </a:solidFill>
          <a:ln w="9525">
            <a:solidFill>
              <a:srgbClr val="2F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A59252-C461-4618-AA13-D6A3AD069AAD}"/>
              </a:ext>
            </a:extLst>
          </p:cNvPr>
          <p:cNvSpPr>
            <a:spLocks noGrp="1"/>
          </p:cNvSpPr>
          <p:nvPr/>
        </p:nvSpPr>
        <p:spPr>
          <a:xfrm>
            <a:off x="6677025" y="4410075"/>
            <a:ext cx="22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4BF0B4-ADA7-4985-91E8-F82FD47B4549}"/>
              </a:ext>
            </a:extLst>
          </p:cNvPr>
          <p:cNvSpPr>
            <a:spLocks noGrp="1"/>
          </p:cNvSpPr>
          <p:nvPr/>
        </p:nvSpPr>
        <p:spPr>
          <a:xfrm>
            <a:off x="7200900" y="42862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Show ops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7343FC-3BFE-4DA7-8114-9C62C8414435}"/>
              </a:ext>
            </a:extLst>
          </p:cNvPr>
          <p:cNvSpPr>
            <a:spLocks noGrp="1"/>
          </p:cNvSpPr>
          <p:nvPr/>
        </p:nvSpPr>
        <p:spPr>
          <a:xfrm>
            <a:off x="7200900" y="4572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Metrics, Grafana dashboard, MLflow reindex runs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EAD9C6-0403-4949-9BA3-DC0D7F5CB04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Customer Support RAG Chatbot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859839-344B-4C66-AD0C-074761720124}"/>
              </a:ext>
            </a:extLst>
          </p:cNvPr>
          <p:cNvSpPr>
            <a:spLocks noGrp="1"/>
          </p:cNvSpPr>
          <p:nvPr/>
        </p:nvSpPr>
        <p:spPr>
          <a:xfrm>
            <a:off x="11315700" y="64008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70072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783</Words>
  <Application>Microsoft Office PowerPoint</Application>
  <DocSecurity>0</DocSecurity>
  <PresentationFormat>Widescreen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Basel Mohamed</cp:lastModifiedBy>
  <cp:revision>2</cp:revision>
  <dcterms:created xsi:type="dcterms:W3CDTF">2026-05-24T10:58:05Z</dcterms:created>
  <dcterms:modified xsi:type="dcterms:W3CDTF">2026-05-24T11:15:30Z</dcterms:modified>
</cp:coreProperties>
</file>